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a28539c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a28539c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a28539c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a28539c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1a28539c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1a28539c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a28539c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a28539c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a28539c6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a28539c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1a28539c6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1a28539c6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1a28539c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1a28539c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1a28539c6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1a28539c6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oogle.com/url?sa=i&amp;url=https%3A%2F%2Fwww.beta-cae.com%2Fevents%2Fc5pdf%2F8B_1_kosik.pdf&amp;psig=AOvVaw3-yIxMQXp7sEJd8VfmTGhc&amp;ust=1762770071400000&amp;source=images&amp;cd=vfe&amp;opi=89978449&amp;ved=0CBUQjRxqFwoTCJiknLvs5JADFQAAAAAdAAAAABAE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www.google.com/url?sa=i&amp;url=https%3A%2F%2Fhelp.sim-flow.com%2Ftutorials%2Fpipe-flow&amp;psig=AOvVaw0aWgmMJ-gX3QlquUuybB84&amp;ust=1762770266114000&amp;source=images&amp;cd=vfe&amp;opi=89978449&amp;ved=0CBUQjRxqFwoTCLC7893t5JADFQAAAAAdAAAAABAE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Fluid Dynamics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818100" y="4500575"/>
            <a:ext cx="1251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–Sneha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CFD?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The full form of CFD is Computational Fluid Dynamics.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It’s a branch of fluid mechanics that uses numerical analysis and algorithms to solve and analyze problems involving fluid flows.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CFD is how we make computers simulate how fluids like air, water or gases move and interact with surfaces.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Instead of doing experiments that costs heavy or writing huge equations by hand, CFD allows us to use computers to model how a fluid behaves, whether it can be an air flowing over an airplane wing, water moving through a pipe, or heat spreading through a device.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500" y="437750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0" y="2231250"/>
            <a:ext cx="33105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Flow around the aircraft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5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3975" y="189725"/>
            <a:ext cx="2980176" cy="19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42150" y="2176525"/>
            <a:ext cx="30495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Internal pipe flow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0500" y="2425225"/>
            <a:ext cx="2980175" cy="2102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3275838" y="4421900"/>
            <a:ext cx="30495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Thermal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analysis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CFD is important?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Saves time and cost compared to experiments.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Gives detailed flow visualization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testing of multiple design options quickly.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predict performance even before making a prototype.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example: If we think about designing a car, rather than building 10 prototypes and testing them in wind tunnels, we can simulate airflow digitally and know how to improve the design much faster.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Transport Phenomena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CFD is basically a Computational Transport Phenomena.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Fluid flow, heat transfer and mass transfer are all transport phenomena.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</a:t>
            </a:r>
            <a:r>
              <a:rPr lang="en"/>
              <a:t>describe</a:t>
            </a:r>
            <a:r>
              <a:rPr lang="en"/>
              <a:t> how momentum, energy and mass move through fluids.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CFD numerically solves the governing equations for these transport processes.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can put it in simple words, transport phenomenon is all about how things move. Whether it can be movement of the fluid itself(momentum),temperature(energy),or </a:t>
            </a:r>
            <a:r>
              <a:rPr lang="en"/>
              <a:t>species like oxygen or pollutants </a:t>
            </a:r>
            <a:r>
              <a:rPr lang="en"/>
              <a:t>(mass).CFD helps us </a:t>
            </a:r>
            <a:r>
              <a:rPr lang="en"/>
              <a:t>understand</a:t>
            </a:r>
            <a:r>
              <a:rPr lang="en"/>
              <a:t> all three together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Equations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Continuity Equation - Conservation of mass.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Momentum Equation - Newton’s 2nd Law applied to fluids (Navier-Stokes).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Energy Equation - Conservation of energy (heat transfer)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Species Transport Equation - Conservation of mass of chemical species.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CFD is based on these fundamental equations: Mass, Momentum and energy conservation. But since solving them analytically is almost impossible for real world cases, we use numerical methods.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CFD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Aerospace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Automobile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Biomedical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Chemical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Materials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Microfluidics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Electronics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Turbo machines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CFD Solves Transport Phenomena</a:t>
            </a:r>
            <a:endParaRPr/>
          </a:p>
        </p:txBody>
      </p:sp>
      <p:grpSp>
        <p:nvGrpSpPr>
          <p:cNvPr id="132" name="Google Shape;132;p20"/>
          <p:cNvGrpSpPr/>
          <p:nvPr/>
        </p:nvGrpSpPr>
        <p:grpSpPr>
          <a:xfrm>
            <a:off x="3011139" y="1370158"/>
            <a:ext cx="2993517" cy="2416254"/>
            <a:chOff x="3071457" y="2013872"/>
            <a:chExt cx="1944600" cy="1569607"/>
          </a:xfrm>
        </p:grpSpPr>
        <p:sp>
          <p:nvSpPr>
            <p:cNvPr id="133" name="Google Shape;133;p20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140750" lIns="140750" spcFirstLastPara="1" rIns="140750" wrap="square" tIns="140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3308161" y="2013872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0750" lIns="140750" spcFirstLastPara="1" rIns="140750" wrap="square" tIns="140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9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Solver</a:t>
              </a:r>
              <a:endParaRPr sz="16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20"/>
            <p:cNvSpPr txBox="1"/>
            <p:nvPr/>
          </p:nvSpPr>
          <p:spPr>
            <a:xfrm>
              <a:off x="3191754" y="2313879"/>
              <a:ext cx="1662000" cy="12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0750" lIns="140750" spcFirstLastPara="1" rIns="140750" wrap="square" tIns="140750">
              <a:noAutofit/>
            </a:bodyPr>
            <a:lstStyle/>
            <a:p>
              <a:pPr indent="-306802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32"/>
                <a:buFont typeface="Roboto"/>
                <a:buChar char="●"/>
              </a:pPr>
              <a:r>
                <a:rPr lang="en" sz="1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Apply governing equations</a:t>
              </a:r>
              <a:endParaRPr sz="12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6802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32"/>
                <a:buFont typeface="Roboto"/>
                <a:buChar char="●"/>
              </a:pPr>
              <a:r>
                <a:rPr lang="en" sz="1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 numerical methods like Finite Volume or Finite element.</a:t>
              </a:r>
              <a:endParaRPr sz="12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6802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32"/>
                <a:buFont typeface="Roboto"/>
                <a:buChar char="●"/>
              </a:pPr>
              <a:r>
                <a:rPr lang="en" sz="1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Iteratively solve equations until convergence</a:t>
              </a:r>
              <a:endParaRPr sz="12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0"/>
          <p:cNvGrpSpPr/>
          <p:nvPr/>
        </p:nvGrpSpPr>
        <p:grpSpPr>
          <a:xfrm>
            <a:off x="17629" y="1370166"/>
            <a:ext cx="2993517" cy="2416249"/>
            <a:chOff x="620622" y="1921824"/>
            <a:chExt cx="1944600" cy="1569604"/>
          </a:xfrm>
        </p:grpSpPr>
        <p:sp>
          <p:nvSpPr>
            <p:cNvPr id="137" name="Google Shape;137;p20"/>
            <p:cNvSpPr/>
            <p:nvPr/>
          </p:nvSpPr>
          <p:spPr>
            <a:xfrm>
              <a:off x="620622" y="1921828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140750" lIns="140750" spcFirstLastPara="1" rIns="140750" wrap="square" tIns="140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/>
            </a:p>
          </p:txBody>
        </p:sp>
        <p:sp>
          <p:nvSpPr>
            <p:cNvPr id="138" name="Google Shape;138;p20"/>
            <p:cNvSpPr txBox="1"/>
            <p:nvPr/>
          </p:nvSpPr>
          <p:spPr>
            <a:xfrm>
              <a:off x="753340" y="1921824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0750" lIns="140750" spcFirstLastPara="1" rIns="140750" wrap="square" tIns="140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9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Pre-processing</a:t>
              </a:r>
              <a:endParaRPr sz="16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39;p20"/>
            <p:cNvSpPr txBox="1"/>
            <p:nvPr/>
          </p:nvSpPr>
          <p:spPr>
            <a:xfrm>
              <a:off x="753346" y="2281817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0750" lIns="140750" spcFirstLastPara="1" rIns="140750" wrap="square" tIns="140750">
              <a:noAutofit/>
            </a:bodyPr>
            <a:lstStyle/>
            <a:p>
              <a:pPr indent="-306804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32"/>
                <a:buFont typeface="Roboto"/>
                <a:buChar char="●"/>
              </a:pPr>
              <a:r>
                <a:rPr lang="en" sz="1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Create Geometry</a:t>
              </a:r>
              <a:endParaRPr sz="12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6804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32"/>
                <a:buFont typeface="Roboto"/>
                <a:buChar char="●"/>
              </a:pPr>
              <a:r>
                <a:rPr lang="en" sz="1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Mesh the domain</a:t>
              </a:r>
              <a:endParaRPr sz="12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6804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32"/>
                <a:buFont typeface="Roboto"/>
                <a:buChar char="●"/>
              </a:pPr>
              <a:r>
                <a:rPr lang="en" sz="1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Define boundary conditions</a:t>
              </a:r>
              <a:endParaRPr sz="12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p20"/>
          <p:cNvGrpSpPr/>
          <p:nvPr/>
        </p:nvGrpSpPr>
        <p:grpSpPr>
          <a:xfrm>
            <a:off x="6004657" y="1357087"/>
            <a:ext cx="3121694" cy="2416314"/>
            <a:chOff x="4844450" y="1751075"/>
            <a:chExt cx="3013800" cy="2332800"/>
          </a:xfrm>
        </p:grpSpPr>
        <p:sp>
          <p:nvSpPr>
            <p:cNvPr id="141" name="Google Shape;141;p20"/>
            <p:cNvSpPr/>
            <p:nvPr/>
          </p:nvSpPr>
          <p:spPr>
            <a:xfrm>
              <a:off x="4844450" y="1751075"/>
              <a:ext cx="3013800" cy="23328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4700" lIns="94700" spcFirstLastPara="1" rIns="94700" wrap="square" tIns="94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/>
            </a:p>
          </p:txBody>
        </p:sp>
        <p:sp>
          <p:nvSpPr>
            <p:cNvPr id="142" name="Google Shape;142;p20"/>
            <p:cNvSpPr txBox="1"/>
            <p:nvPr/>
          </p:nvSpPr>
          <p:spPr>
            <a:xfrm>
              <a:off x="5142808" y="2303025"/>
              <a:ext cx="2417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700" lIns="94700" spcFirstLastPara="1" rIns="94700" wrap="square" tIns="94700">
              <a:noAutofit/>
            </a:bodyPr>
            <a:lstStyle/>
            <a:p>
              <a:pPr indent="-3009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39"/>
                <a:buFont typeface="Roboto"/>
                <a:buChar char="●"/>
              </a:pPr>
              <a:r>
                <a:rPr lang="en" sz="113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Visualize results (pressure, Velocity, temperature contours)</a:t>
              </a:r>
              <a:endParaRPr sz="11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09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39"/>
                <a:buFont typeface="Roboto"/>
                <a:buChar char="●"/>
              </a:pPr>
              <a:r>
                <a:rPr lang="en" sz="113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Analyze and validate</a:t>
              </a:r>
              <a:endParaRPr sz="11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" name="Google Shape;143;p20"/>
          <p:cNvGrpSpPr/>
          <p:nvPr/>
        </p:nvGrpSpPr>
        <p:grpSpPr>
          <a:xfrm>
            <a:off x="5810557" y="2417352"/>
            <a:ext cx="270937" cy="269703"/>
            <a:chOff x="4858109" y="2631368"/>
            <a:chExt cx="316442" cy="315000"/>
          </a:xfrm>
        </p:grpSpPr>
        <p:sp>
          <p:nvSpPr>
            <p:cNvPr id="144" name="Google Shape;144;p20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4700" lIns="94700" spcFirstLastPara="1" rIns="94700" wrap="square" tIns="94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4700" lIns="94700" spcFirstLastPara="1" rIns="94700" wrap="square" tIns="94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450"/>
              </a:br>
              <a:endParaRPr sz="1450"/>
            </a:p>
          </p:txBody>
        </p:sp>
      </p:grpSp>
      <p:grpSp>
        <p:nvGrpSpPr>
          <p:cNvPr id="146" name="Google Shape;146;p20"/>
          <p:cNvGrpSpPr/>
          <p:nvPr/>
        </p:nvGrpSpPr>
        <p:grpSpPr>
          <a:xfrm>
            <a:off x="2869628" y="2443440"/>
            <a:ext cx="270937" cy="269703"/>
            <a:chOff x="4858109" y="2631368"/>
            <a:chExt cx="316442" cy="315000"/>
          </a:xfrm>
        </p:grpSpPr>
        <p:sp>
          <p:nvSpPr>
            <p:cNvPr id="147" name="Google Shape;147;p20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4700" lIns="94700" spcFirstLastPara="1" rIns="94700" wrap="square" tIns="94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4700" lIns="94700" spcFirstLastPara="1" rIns="94700" wrap="square" tIns="94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450"/>
              </a:br>
              <a:endParaRPr sz="1450"/>
            </a:p>
          </p:txBody>
        </p:sp>
      </p:grpSp>
      <p:sp>
        <p:nvSpPr>
          <p:cNvPr id="149" name="Google Shape;149;p20"/>
          <p:cNvSpPr txBox="1"/>
          <p:nvPr/>
        </p:nvSpPr>
        <p:spPr>
          <a:xfrm>
            <a:off x="5974672" y="1360320"/>
            <a:ext cx="2234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0750" lIns="140750" spcFirstLastPara="1" rIns="140750" wrap="square" tIns="14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Post-processing</a:t>
            </a:r>
            <a:endParaRPr sz="169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31170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Approaches to CFD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462175" y="669025"/>
            <a:ext cx="8520600" cy="40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2 other major ways to study transport phenomena: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Analytical Approach: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mathematical equations and exact solutions.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for simple cases.(ex: laminar flow in pipe)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Limitation: Becomes very complex for real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Experimental Approach: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testing using equipment (wind tunnels, flow benches)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 world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Limitation: Costly, time consuming and difficult to visualize internally.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So, CFD acts like a bridge, not as idealized as equations, not as expensive as experiments. It gives a realistic and detailed picture digitally.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